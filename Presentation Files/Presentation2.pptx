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86" r:id="rId3"/>
    <p:sldId id="280" r:id="rId4"/>
    <p:sldId id="258" r:id="rId5"/>
    <p:sldId id="276" r:id="rId6"/>
    <p:sldId id="277" r:id="rId7"/>
    <p:sldId id="278" r:id="rId8"/>
    <p:sldId id="279" r:id="rId9"/>
    <p:sldId id="264" r:id="rId10"/>
    <p:sldId id="281" r:id="rId11"/>
    <p:sldId id="282" r:id="rId12"/>
    <p:sldId id="284" r:id="rId13"/>
    <p:sldId id="285" r:id="rId14"/>
    <p:sldId id="274" r:id="rId15"/>
    <p:sldId id="275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24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4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51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64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2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1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6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9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8975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9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4483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67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279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6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95D5F-7A66-4B03-A3E5-EBFAE50DD91D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619D7E1-5694-4B08-9B2D-599287C4C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 smtClean="0"/>
              <a:t>TinyML</a:t>
            </a:r>
            <a:r>
              <a:rPr lang="en-IN" dirty="0" smtClean="0"/>
              <a:t> Assignment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ln>
            <a:solidFill>
              <a:srgbClr val="C00000"/>
            </a:solidFill>
          </a:ln>
        </p:spPr>
        <p:txBody>
          <a:bodyPr>
            <a:normAutofit fontScale="92500" lnSpcReduction="2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Weed detection in soybean crops using custom lightweight deep learning </a:t>
            </a:r>
            <a:r>
              <a:rPr lang="en-US" b="1" dirty="0" smtClean="0">
                <a:solidFill>
                  <a:schemeClr val="tx1"/>
                </a:solidFill>
              </a:rPr>
              <a:t>models</a:t>
            </a:r>
          </a:p>
          <a:p>
            <a:pPr algn="ctr"/>
            <a:r>
              <a:rPr lang="en-IN" b="1" dirty="0" smtClean="0">
                <a:solidFill>
                  <a:schemeClr val="tx1"/>
                </a:solidFill>
              </a:rPr>
              <a:t>By N</a:t>
            </a:r>
            <a:r>
              <a:rPr lang="en-US" dirty="0" err="1">
                <a:solidFill>
                  <a:schemeClr val="tx1"/>
                </a:solidFill>
              </a:rPr>
              <a:t>ajmeh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Razfar</a:t>
            </a:r>
            <a:r>
              <a:rPr lang="en-US" dirty="0">
                <a:solidFill>
                  <a:schemeClr val="tx1"/>
                </a:solidFill>
              </a:rPr>
              <a:t>, Julian True, </a:t>
            </a:r>
            <a:r>
              <a:rPr lang="en-US" dirty="0" err="1">
                <a:solidFill>
                  <a:schemeClr val="tx1"/>
                </a:solidFill>
              </a:rPr>
              <a:t>Rodina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Bassiouny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Vishaal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Venkatesh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Rasha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Kashef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37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5855" y="1642484"/>
            <a:ext cx="7766936" cy="1096899"/>
          </a:xfrm>
          <a:ln>
            <a:solidFill>
              <a:srgbClr val="C00000"/>
            </a:solidFill>
          </a:ln>
        </p:spPr>
        <p:txBody>
          <a:bodyPr>
            <a:normAutofit fontScale="92500" lnSpcReduction="2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Weed detection in soybean crops using custom lightweight deep learning </a:t>
            </a:r>
            <a:r>
              <a:rPr lang="en-US" b="1" dirty="0" smtClean="0">
                <a:solidFill>
                  <a:schemeClr val="tx1"/>
                </a:solidFill>
              </a:rPr>
              <a:t>models</a:t>
            </a:r>
          </a:p>
          <a:p>
            <a:pPr algn="ctr"/>
            <a:r>
              <a:rPr lang="en-IN" b="1" dirty="0" smtClean="0">
                <a:solidFill>
                  <a:schemeClr val="tx1"/>
                </a:solidFill>
              </a:rPr>
              <a:t>By N</a:t>
            </a:r>
            <a:r>
              <a:rPr lang="en-US" dirty="0" err="1">
                <a:solidFill>
                  <a:schemeClr val="tx1"/>
                </a:solidFill>
              </a:rPr>
              <a:t>ajmeh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Razfar</a:t>
            </a:r>
            <a:r>
              <a:rPr lang="en-US" dirty="0">
                <a:solidFill>
                  <a:schemeClr val="tx1"/>
                </a:solidFill>
              </a:rPr>
              <a:t>, Julian True, </a:t>
            </a:r>
            <a:r>
              <a:rPr lang="en-US" dirty="0" err="1">
                <a:solidFill>
                  <a:schemeClr val="tx1"/>
                </a:solidFill>
              </a:rPr>
              <a:t>Rodina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Bassiouny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Vishaal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Venkatesh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Rasha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Kashef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220989" y="320377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tx1"/>
                </a:solidFill>
              </a:rPr>
              <a:t>Published in 2022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Journal of Agriculture and Food Research</a:t>
            </a:r>
          </a:p>
        </p:txBody>
      </p:sp>
    </p:spTree>
    <p:extLst>
      <p:ext uri="{BB962C8B-B14F-4D97-AF65-F5344CB8AC3E}">
        <p14:creationId xmlns:p14="http://schemas.microsoft.com/office/powerpoint/2010/main" val="2176631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154" y="1516646"/>
            <a:ext cx="8596668" cy="3880773"/>
          </a:xfrm>
        </p:spPr>
        <p:txBody>
          <a:bodyPr>
            <a:noAutofit/>
          </a:bodyPr>
          <a:lstStyle/>
          <a:p>
            <a:r>
              <a:rPr lang="en-US" sz="3200" dirty="0"/>
              <a:t>Objective: Reproduce and evaluate weed detection </a:t>
            </a:r>
            <a:r>
              <a:rPr lang="en-US" sz="3200" dirty="0" smtClean="0"/>
              <a:t>models</a:t>
            </a:r>
          </a:p>
          <a:p>
            <a:r>
              <a:rPr lang="en-US" sz="3200" dirty="0" smtClean="0"/>
              <a:t>Models </a:t>
            </a:r>
            <a:r>
              <a:rPr lang="en-US" sz="3200" dirty="0"/>
              <a:t>implemented</a:t>
            </a:r>
            <a:r>
              <a:rPr lang="en-US" sz="3200" dirty="0" smtClean="0"/>
              <a:t>:</a:t>
            </a:r>
          </a:p>
          <a:p>
            <a:pPr lvl="1"/>
            <a:r>
              <a:rPr lang="en-US" sz="2800" dirty="0" smtClean="0"/>
              <a:t>Custom </a:t>
            </a:r>
            <a:r>
              <a:rPr lang="en-US" sz="2800" dirty="0"/>
              <a:t>CNNs (3 variants</a:t>
            </a:r>
            <a:r>
              <a:rPr lang="en-US" sz="2800" dirty="0" smtClean="0"/>
              <a:t>)</a:t>
            </a:r>
          </a:p>
          <a:p>
            <a:pPr lvl="1"/>
            <a:r>
              <a:rPr lang="en-US" sz="2800" dirty="0" smtClean="0"/>
              <a:t>Transfer </a:t>
            </a:r>
            <a:r>
              <a:rPr lang="en-US" sz="2800" dirty="0"/>
              <a:t>Learning: </a:t>
            </a:r>
            <a:r>
              <a:rPr lang="en-US" sz="2800" dirty="0" smtClean="0"/>
              <a:t>MobileNetv2, ResNet50</a:t>
            </a:r>
            <a:endParaRPr lang="en-US" sz="2800" dirty="0" smtClean="0"/>
          </a:p>
          <a:p>
            <a:pPr lvl="1"/>
            <a:r>
              <a:rPr lang="en-US" sz="2800" dirty="0" smtClean="0"/>
              <a:t>Training </a:t>
            </a:r>
            <a:r>
              <a:rPr lang="en-US" sz="2800" dirty="0"/>
              <a:t>platform: Google </a:t>
            </a:r>
            <a:r>
              <a:rPr lang="en-US" sz="2800" dirty="0" err="1" smtClean="0"/>
              <a:t>Colab</a:t>
            </a:r>
            <a:endParaRPr lang="en-US" sz="2800" dirty="0" smtClean="0"/>
          </a:p>
          <a:p>
            <a:pPr lvl="1"/>
            <a:r>
              <a:rPr lang="en-US" sz="2800" dirty="0" smtClean="0"/>
              <a:t>Deployment </a:t>
            </a:r>
            <a:r>
              <a:rPr lang="en-US" sz="2800" dirty="0"/>
              <a:t>platform: Raspberry </a:t>
            </a:r>
            <a:r>
              <a:rPr lang="en-US" sz="2800" dirty="0" smtClean="0"/>
              <a:t>Pi 4 (4GB RAM)</a:t>
            </a:r>
            <a:endParaRPr lang="en-US" sz="2800" dirty="0" smtClean="0"/>
          </a:p>
          <a:p>
            <a:pPr lvl="1"/>
            <a:r>
              <a:rPr lang="en-US" sz="2800" dirty="0" smtClean="0"/>
              <a:t>Metrics :Accuracy, Latency, Memory </a:t>
            </a:r>
            <a:r>
              <a:rPr lang="en-US" sz="2800" dirty="0"/>
              <a:t>usage</a:t>
            </a:r>
          </a:p>
        </p:txBody>
      </p:sp>
    </p:spTree>
    <p:extLst>
      <p:ext uri="{BB962C8B-B14F-4D97-AF65-F5344CB8AC3E}">
        <p14:creationId xmlns:p14="http://schemas.microsoft.com/office/powerpoint/2010/main" val="11303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4 Classes : Soybean, Soil, Broadleaf weeds and Grass</a:t>
            </a:r>
          </a:p>
          <a:p>
            <a:r>
              <a:rPr lang="en-IN" dirty="0" smtClean="0"/>
              <a:t>Public Dataset – on </a:t>
            </a:r>
            <a:r>
              <a:rPr lang="en-IN" dirty="0" err="1" smtClean="0"/>
              <a:t>Mendeley</a:t>
            </a:r>
            <a:r>
              <a:rPr lang="en-IN" dirty="0" smtClean="0"/>
              <a:t> </a:t>
            </a:r>
            <a:r>
              <a:rPr lang="en-IN" dirty="0" smtClean="0">
                <a:sym typeface="Wingdings" panose="05000000000000000000" pitchFamily="2" charset="2"/>
              </a:rPr>
              <a:t> </a:t>
            </a:r>
            <a:r>
              <a:rPr lang="en-US" b="1" dirty="0"/>
              <a:t>Weed Detection in Soybean Crops Using </a:t>
            </a:r>
            <a:r>
              <a:rPr lang="en-US" b="1" dirty="0" err="1" smtClean="0"/>
              <a:t>ConvNets</a:t>
            </a:r>
            <a:r>
              <a:rPr lang="en-US" b="1" dirty="0" smtClean="0"/>
              <a:t> (2017)</a:t>
            </a:r>
          </a:p>
          <a:p>
            <a:r>
              <a:rPr lang="en-US" dirty="0"/>
              <a:t>400 </a:t>
            </a:r>
            <a:r>
              <a:rPr lang="en-US" dirty="0" smtClean="0"/>
              <a:t>images</a:t>
            </a:r>
            <a:r>
              <a:rPr lang="en-US" dirty="0"/>
              <a:t> </a:t>
            </a:r>
            <a:r>
              <a:rPr lang="en-US" dirty="0" smtClean="0"/>
              <a:t>-&gt; </a:t>
            </a:r>
            <a:r>
              <a:rPr lang="en-US" dirty="0"/>
              <a:t>15336 segments</a:t>
            </a:r>
            <a:endParaRPr lang="en-US" b="1" dirty="0"/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01419" y="3643630"/>
            <a:ext cx="9557665" cy="165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3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&amp; Deployment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3" y="1838823"/>
            <a:ext cx="1101668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ONNX Conversion: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PyTorch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models exported to ONNX format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Enabled cross-platform inference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Dynamic INT8 quantization applied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Execution: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Models loaded using ONNX Runtime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Inference performed on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CPU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Metrics measured: </a:t>
            </a:r>
          </a:p>
          <a:p>
            <a:pPr marL="85725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Accuracy </a:t>
            </a:r>
          </a:p>
          <a:p>
            <a:pPr marL="85725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Latency (per image) </a:t>
            </a:r>
          </a:p>
          <a:p>
            <a:pPr marL="85725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Memory usage 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psutil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9245" t="23047" r="6510" b="24609"/>
          <a:stretch/>
        </p:blipFill>
        <p:spPr>
          <a:xfrm>
            <a:off x="8080249" y="1205375"/>
            <a:ext cx="2841578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82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4847703" cy="3880773"/>
          </a:xfrm>
        </p:spPr>
        <p:txBody>
          <a:bodyPr/>
          <a:lstStyle/>
          <a:p>
            <a:r>
              <a:rPr lang="en-US" dirty="0"/>
              <a:t>Connection Methods</a:t>
            </a:r>
            <a:r>
              <a:rPr lang="en-US" dirty="0" smtClean="0"/>
              <a:t>: Screen </a:t>
            </a:r>
            <a:r>
              <a:rPr lang="en-US" dirty="0"/>
              <a:t>sharing via Raspberry Pi </a:t>
            </a:r>
            <a:r>
              <a:rPr lang="en-US" dirty="0" smtClean="0"/>
              <a:t>Connect</a:t>
            </a:r>
          </a:p>
          <a:p>
            <a:pPr lvl="1"/>
            <a:r>
              <a:rPr lang="en-IN" dirty="0" smtClean="0"/>
              <a:t>Need stable Internet Connection</a:t>
            </a:r>
          </a:p>
          <a:p>
            <a:pPr lvl="1"/>
            <a:r>
              <a:rPr lang="en-IN" dirty="0" smtClean="0"/>
              <a:t>Not that reliable</a:t>
            </a:r>
            <a:endParaRPr lang="en-US" dirty="0" smtClean="0"/>
          </a:p>
          <a:p>
            <a:r>
              <a:rPr lang="en-US" dirty="0" smtClean="0"/>
              <a:t>Ethernet </a:t>
            </a:r>
            <a:r>
              <a:rPr lang="en-US" dirty="0"/>
              <a:t>setup with DHCP (192.168.1.1</a:t>
            </a:r>
            <a:r>
              <a:rPr lang="en-US" dirty="0" smtClean="0"/>
              <a:t>)</a:t>
            </a:r>
          </a:p>
          <a:p>
            <a:r>
              <a:rPr lang="en-US" dirty="0" smtClean="0"/>
              <a:t>Remote </a:t>
            </a:r>
            <a:r>
              <a:rPr lang="en-US" dirty="0"/>
              <a:t>Access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SSH </a:t>
            </a:r>
            <a:r>
              <a:rPr lang="en-US" dirty="0"/>
              <a:t>using hostname: </a:t>
            </a:r>
            <a:r>
              <a:rPr lang="en-US" dirty="0" err="1" smtClean="0"/>
              <a:t>tkhayrasp</a:t>
            </a:r>
            <a:r>
              <a:rPr lang="en-US" dirty="0" smtClean="0"/>
              <a:t> 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LI </a:t>
            </a:r>
            <a:r>
              <a:rPr lang="en-US" dirty="0"/>
              <a:t>used for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Running scripts &amp; Monitoring </a:t>
            </a:r>
            <a:r>
              <a:rPr lang="en-US" dirty="0"/>
              <a:t>performance</a:t>
            </a:r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b="5707"/>
          <a:stretch/>
        </p:blipFill>
        <p:spPr bwMode="auto">
          <a:xfrm>
            <a:off x="5525037" y="892234"/>
            <a:ext cx="6492025" cy="351550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6551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331" y="1517274"/>
            <a:ext cx="4847703" cy="3880773"/>
          </a:xfrm>
        </p:spPr>
        <p:txBody>
          <a:bodyPr/>
          <a:lstStyle/>
          <a:p>
            <a:r>
              <a:rPr lang="en-US" dirty="0" smtClean="0"/>
              <a:t>Ethernet </a:t>
            </a:r>
            <a:r>
              <a:rPr lang="en-US" dirty="0"/>
              <a:t>setup with DHCP (192.168.1.1</a:t>
            </a:r>
            <a:r>
              <a:rPr lang="en-US" dirty="0" smtClean="0"/>
              <a:t>)</a:t>
            </a:r>
          </a:p>
          <a:p>
            <a:r>
              <a:rPr lang="en-US" dirty="0" smtClean="0"/>
              <a:t>Remote </a:t>
            </a:r>
            <a:r>
              <a:rPr lang="en-US" dirty="0"/>
              <a:t>Access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SSH </a:t>
            </a:r>
            <a:r>
              <a:rPr lang="en-US" dirty="0"/>
              <a:t>using hostname: </a:t>
            </a:r>
            <a:r>
              <a:rPr lang="en-US" dirty="0" err="1" smtClean="0"/>
              <a:t>tkhayrasp</a:t>
            </a:r>
            <a:r>
              <a:rPr lang="en-US" dirty="0" smtClean="0"/>
              <a:t> 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LI </a:t>
            </a:r>
            <a:r>
              <a:rPr lang="en-US" dirty="0"/>
              <a:t>used for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Running scripts &amp; Monitoring </a:t>
            </a:r>
            <a:r>
              <a:rPr lang="en-US" dirty="0"/>
              <a:t>performance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97"/>
          <a:stretch/>
        </p:blipFill>
        <p:spPr bwMode="auto">
          <a:xfrm rot="5400000">
            <a:off x="6081891" y="148424"/>
            <a:ext cx="2231738" cy="36349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9"/>
          <a:stretch/>
        </p:blipFill>
        <p:spPr bwMode="auto">
          <a:xfrm>
            <a:off x="252331" y="3457660"/>
            <a:ext cx="5943600" cy="31464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6" t="78000" r="65023" b="5819"/>
          <a:stretch/>
        </p:blipFill>
        <p:spPr bwMode="auto">
          <a:xfrm>
            <a:off x="4975668" y="3942223"/>
            <a:ext cx="6941713" cy="2285946"/>
          </a:xfrm>
          <a:prstGeom prst="rect">
            <a:avLst/>
          </a:prstGeom>
          <a:ln w="190500" cap="sq">
            <a:solidFill>
              <a:schemeClr val="accent1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9" name="Straight Connector 8"/>
          <p:cNvCxnSpPr/>
          <p:nvPr/>
        </p:nvCxnSpPr>
        <p:spPr>
          <a:xfrm flipV="1">
            <a:off x="252331" y="3870786"/>
            <a:ext cx="4723337" cy="220804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082725" y="6228169"/>
            <a:ext cx="3017309" cy="4473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0566" t="19850" r="31685" b="20819"/>
          <a:stretch/>
        </p:blipFill>
        <p:spPr>
          <a:xfrm>
            <a:off x="8785731" y="386365"/>
            <a:ext cx="3250081" cy="287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07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331" y="1517274"/>
            <a:ext cx="4847703" cy="3880773"/>
          </a:xfrm>
        </p:spPr>
        <p:txBody>
          <a:bodyPr/>
          <a:lstStyle/>
          <a:p>
            <a:r>
              <a:rPr lang="en-IN" dirty="0" smtClean="0"/>
              <a:t>Virtual Environment created</a:t>
            </a:r>
          </a:p>
          <a:p>
            <a:r>
              <a:rPr lang="en-IN" dirty="0" smtClean="0"/>
              <a:t>Relevant </a:t>
            </a:r>
            <a:r>
              <a:rPr lang="en-IN" dirty="0" smtClean="0"/>
              <a:t>ONNX libraries </a:t>
            </a:r>
            <a:r>
              <a:rPr lang="en-IN" dirty="0" smtClean="0"/>
              <a:t>installed</a:t>
            </a:r>
            <a:endParaRPr lang="en-US" dirty="0"/>
          </a:p>
          <a:p>
            <a:r>
              <a:rPr lang="en-IN" dirty="0" smtClean="0"/>
              <a:t>3 Different  Models loaded in</a:t>
            </a:r>
          </a:p>
          <a:p>
            <a:pPr lvl="1"/>
            <a:r>
              <a:rPr lang="en-IN" dirty="0" smtClean="0"/>
              <a:t>Resnet50, MobileNetv2 and Custom Model 2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97"/>
          <a:stretch/>
        </p:blipFill>
        <p:spPr bwMode="auto">
          <a:xfrm rot="5400000">
            <a:off x="6081891" y="148424"/>
            <a:ext cx="2231738" cy="36349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9"/>
          <a:stretch/>
        </p:blipFill>
        <p:spPr bwMode="auto">
          <a:xfrm>
            <a:off x="252331" y="3457660"/>
            <a:ext cx="5943600" cy="31464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6" t="78000" r="65023" b="5819"/>
          <a:stretch/>
        </p:blipFill>
        <p:spPr bwMode="auto">
          <a:xfrm>
            <a:off x="4975668" y="3942223"/>
            <a:ext cx="6941713" cy="2285946"/>
          </a:xfrm>
          <a:prstGeom prst="rect">
            <a:avLst/>
          </a:prstGeom>
          <a:ln w="190500" cap="sq">
            <a:solidFill>
              <a:schemeClr val="accent1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9" name="Straight Connector 8"/>
          <p:cNvCxnSpPr/>
          <p:nvPr/>
        </p:nvCxnSpPr>
        <p:spPr>
          <a:xfrm flipV="1">
            <a:off x="252331" y="3870786"/>
            <a:ext cx="4723337" cy="220804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082725" y="6228169"/>
            <a:ext cx="3017309" cy="44735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30566" t="19850" r="31685" b="20819"/>
          <a:stretch/>
        </p:blipFill>
        <p:spPr>
          <a:xfrm>
            <a:off x="8785731" y="386365"/>
            <a:ext cx="3250081" cy="287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5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Deployment + 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5984" y="1474789"/>
            <a:ext cx="8596668" cy="3880773"/>
          </a:xfrm>
        </p:spPr>
        <p:txBody>
          <a:bodyPr>
            <a:noAutofit/>
          </a:bodyPr>
          <a:lstStyle/>
          <a:p>
            <a:r>
              <a:rPr lang="en-IN" dirty="0"/>
              <a:t>Lack of detail in paper</a:t>
            </a:r>
            <a:r>
              <a:rPr lang="en-IN" dirty="0" smtClean="0"/>
              <a:t>:</a:t>
            </a:r>
          </a:p>
          <a:p>
            <a:pPr lvl="1"/>
            <a:r>
              <a:rPr lang="en-IN" sz="2800" dirty="0" smtClean="0"/>
              <a:t>Quantization </a:t>
            </a:r>
            <a:r>
              <a:rPr lang="en-IN" sz="1800" dirty="0"/>
              <a:t>method not </a:t>
            </a:r>
            <a:r>
              <a:rPr lang="en-IN" sz="1800" dirty="0" smtClean="0"/>
              <a:t>specified</a:t>
            </a:r>
          </a:p>
          <a:p>
            <a:pPr lvl="1"/>
            <a:r>
              <a:rPr lang="en-IN" sz="1800" dirty="0" smtClean="0"/>
              <a:t>Deployment </a:t>
            </a:r>
            <a:r>
              <a:rPr lang="en-IN" sz="1800" dirty="0"/>
              <a:t>setup </a:t>
            </a:r>
            <a:r>
              <a:rPr lang="en-IN" sz="1800" dirty="0" smtClean="0"/>
              <a:t>unclear</a:t>
            </a:r>
          </a:p>
          <a:p>
            <a:pPr lvl="1"/>
            <a:r>
              <a:rPr lang="en-IN" sz="1800" dirty="0" smtClean="0"/>
              <a:t>Measurement </a:t>
            </a:r>
            <a:r>
              <a:rPr lang="en-IN" sz="1800" dirty="0"/>
              <a:t>methodology </a:t>
            </a:r>
            <a:r>
              <a:rPr lang="en-IN" sz="1800" dirty="0" smtClean="0"/>
              <a:t>ambiguous</a:t>
            </a:r>
          </a:p>
          <a:p>
            <a:pPr lvl="2"/>
            <a:r>
              <a:rPr lang="en-IN" sz="1600" dirty="0" smtClean="0"/>
              <a:t>Latency? Memory Usage?</a:t>
            </a:r>
          </a:p>
          <a:p>
            <a:pPr lvl="1"/>
            <a:r>
              <a:rPr lang="en-IN" sz="1800" dirty="0" smtClean="0"/>
              <a:t>ONNX </a:t>
            </a:r>
            <a:r>
              <a:rPr lang="en-IN" sz="1800" dirty="0"/>
              <a:t>Conversion Issues</a:t>
            </a:r>
            <a:r>
              <a:rPr lang="en-IN" sz="1800" dirty="0" smtClean="0"/>
              <a:t>:</a:t>
            </a:r>
          </a:p>
          <a:p>
            <a:pPr lvl="2"/>
            <a:r>
              <a:rPr lang="en-IN" sz="1600" dirty="0" smtClean="0"/>
              <a:t>Possible </a:t>
            </a:r>
            <a:r>
              <a:rPr lang="en-IN" sz="1600" dirty="0"/>
              <a:t>inefficiencies in </a:t>
            </a:r>
            <a:r>
              <a:rPr lang="en-IN" sz="1600" dirty="0" smtClean="0"/>
              <a:t>runtime</a:t>
            </a:r>
          </a:p>
          <a:p>
            <a:pPr lvl="2"/>
            <a:r>
              <a:rPr lang="en-IN" sz="1600" dirty="0" smtClean="0"/>
              <a:t>Model </a:t>
            </a:r>
            <a:r>
              <a:rPr lang="en-IN" sz="1600" dirty="0" err="1"/>
              <a:t>behavior</a:t>
            </a:r>
            <a:r>
              <a:rPr lang="en-IN" sz="1600" dirty="0"/>
              <a:t> changes after </a:t>
            </a:r>
            <a:r>
              <a:rPr lang="en-IN" sz="1600" dirty="0" smtClean="0"/>
              <a:t>conversion</a:t>
            </a:r>
          </a:p>
          <a:p>
            <a:r>
              <a:rPr lang="en-IN" dirty="0" smtClean="0"/>
              <a:t>Hardware </a:t>
            </a:r>
            <a:r>
              <a:rPr lang="en-IN" dirty="0"/>
              <a:t>Differences</a:t>
            </a:r>
            <a:r>
              <a:rPr lang="en-IN" dirty="0" smtClean="0"/>
              <a:t>:</a:t>
            </a:r>
          </a:p>
          <a:p>
            <a:pPr lvl="1"/>
            <a:r>
              <a:rPr lang="en-IN" sz="1800" dirty="0" smtClean="0"/>
              <a:t>Paper</a:t>
            </a:r>
            <a:r>
              <a:rPr lang="en-IN" sz="1800" dirty="0"/>
              <a:t>: GPU + 4GB </a:t>
            </a:r>
            <a:r>
              <a:rPr lang="en-IN" sz="1800" dirty="0" smtClean="0"/>
              <a:t>RAM</a:t>
            </a:r>
          </a:p>
          <a:p>
            <a:pPr lvl="1"/>
            <a:r>
              <a:rPr lang="en-IN" sz="1800" dirty="0" smtClean="0"/>
              <a:t>Raspberry </a:t>
            </a:r>
            <a:r>
              <a:rPr lang="en-IN" sz="1800" dirty="0"/>
              <a:t>Pi (2GB RAM</a:t>
            </a:r>
            <a:r>
              <a:rPr lang="en-IN" sz="1800" dirty="0" smtClean="0"/>
              <a:t>)</a:t>
            </a:r>
          </a:p>
          <a:p>
            <a:pPr lvl="1"/>
            <a:r>
              <a:rPr lang="en-IN" sz="1800" dirty="0" smtClean="0"/>
              <a:t>Latency </a:t>
            </a:r>
            <a:r>
              <a:rPr lang="en-IN" sz="1800" dirty="0"/>
              <a:t>&amp; Memory Discrepancy</a:t>
            </a:r>
            <a:r>
              <a:rPr lang="en-IN" sz="1800" dirty="0" smtClean="0"/>
              <a:t>: Hard </a:t>
            </a:r>
            <a:r>
              <a:rPr lang="en-IN" sz="1800" dirty="0"/>
              <a:t>to compare batch </a:t>
            </a:r>
            <a:r>
              <a:rPr lang="en-IN" sz="1800" dirty="0" err="1"/>
              <a:t>vs</a:t>
            </a:r>
            <a:r>
              <a:rPr lang="en-IN" sz="1800" dirty="0"/>
              <a:t> real-time </a:t>
            </a:r>
            <a:r>
              <a:rPr lang="en-IN" sz="1800" dirty="0" smtClean="0"/>
              <a:t>inference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1328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Training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72644"/>
            <a:ext cx="8596668" cy="3880773"/>
          </a:xfrm>
        </p:spPr>
        <p:txBody>
          <a:bodyPr/>
          <a:lstStyle/>
          <a:p>
            <a:r>
              <a:rPr lang="en-IN" dirty="0" smtClean="0"/>
              <a:t>Model Architectures Implemented in </a:t>
            </a:r>
            <a:r>
              <a:rPr lang="en-IN" dirty="0" err="1" smtClean="0"/>
              <a:t>Pytorch</a:t>
            </a:r>
            <a:endParaRPr lang="en-IN" dirty="0" smtClean="0"/>
          </a:p>
          <a:p>
            <a:r>
              <a:rPr lang="en-IN" dirty="0" smtClean="0"/>
              <a:t>Training done on </a:t>
            </a:r>
            <a:r>
              <a:rPr lang="en-IN" dirty="0" err="1" smtClean="0"/>
              <a:t>Colab</a:t>
            </a:r>
            <a:r>
              <a:rPr lang="en-IN" dirty="0" smtClean="0"/>
              <a:t> using Free Tier GPU</a:t>
            </a:r>
          </a:p>
          <a:p>
            <a:r>
              <a:rPr lang="en-IN" dirty="0" smtClean="0"/>
              <a:t>Custom Model 3 was trained in </a:t>
            </a:r>
            <a:r>
              <a:rPr lang="en-IN" dirty="0" err="1" smtClean="0"/>
              <a:t>Kaggle</a:t>
            </a:r>
            <a:endParaRPr lang="en-IN" dirty="0" smtClean="0"/>
          </a:p>
          <a:p>
            <a:r>
              <a:rPr lang="en-IN" dirty="0" smtClean="0"/>
              <a:t>Batch Sizes, Epochs, Optimizers – Set according to paper</a:t>
            </a:r>
          </a:p>
          <a:p>
            <a:pPr lvl="1"/>
            <a:r>
              <a:rPr lang="en-IN" dirty="0" smtClean="0"/>
              <a:t>Except for Custom Model 2 (Learning Rate Scheduler was used)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754359"/>
              </p:ext>
            </p:extLst>
          </p:nvPr>
        </p:nvGraphicFramePr>
        <p:xfrm>
          <a:off x="2228046" y="3645757"/>
          <a:ext cx="6452314" cy="2054479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3344845"/>
                <a:gridCol w="3107469"/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Model Name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Training Accuracy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ResNet50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94.99%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MobileNetV2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96.08%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Custom Model 1 (4 layers)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800">
                          <a:effectLst/>
                        </a:rPr>
                        <a:t>89.57%</a:t>
                      </a:r>
                      <a:endParaRPr lang="en-US" sz="1600">
                        <a:effectLst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Custom Model 2 (5 layers)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97.60%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IN" sz="1800" dirty="0">
                          <a:effectLst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Custom Model 3  (8 layers)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98.23%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ight Arrow 4"/>
          <p:cNvSpPr/>
          <p:nvPr/>
        </p:nvSpPr>
        <p:spPr>
          <a:xfrm rot="10546431">
            <a:off x="7065277" y="4946918"/>
            <a:ext cx="1429555" cy="104318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6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Evaluation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After evaluation on test dataset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97431"/>
              </p:ext>
            </p:extLst>
          </p:nvPr>
        </p:nvGraphicFramePr>
        <p:xfrm>
          <a:off x="1777285" y="2633504"/>
          <a:ext cx="7158029" cy="3815461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1605938"/>
                <a:gridCol w="1491968"/>
                <a:gridCol w="4060123"/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Model Name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Test accuracy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Paper’s Test Accuracy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ResNet50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94.46%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76910" algn="l"/>
                        </a:tabLst>
                      </a:pPr>
                      <a:r>
                        <a:rPr lang="en-US" sz="1800">
                          <a:effectLst/>
                        </a:rPr>
                        <a:t>83.01%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MobileNetV2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96.48%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30.37%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Custom Model 1 – 4 layers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94.20%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N/A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Custom Model 2 – 5 layers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</a:rPr>
                        <a:t>97.30%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97.70%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Custom Model 3 – 8 layers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98.26%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N/A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Right Arrow 4"/>
          <p:cNvSpPr/>
          <p:nvPr/>
        </p:nvSpPr>
        <p:spPr>
          <a:xfrm rot="10546431">
            <a:off x="6034965" y="4314423"/>
            <a:ext cx="1429555" cy="104318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01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Quantization Results (on </a:t>
            </a:r>
            <a:r>
              <a:rPr lang="en-IN" dirty="0" err="1" smtClean="0"/>
              <a:t>Colab</a:t>
            </a:r>
            <a:r>
              <a:rPr lang="en-IN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Quantization was done using </a:t>
            </a:r>
            <a:r>
              <a:rPr lang="en-IN" dirty="0" err="1" smtClean="0"/>
              <a:t>Pytorch</a:t>
            </a:r>
            <a:r>
              <a:rPr lang="en-IN" dirty="0" smtClean="0"/>
              <a:t> (</a:t>
            </a:r>
            <a:r>
              <a:rPr lang="en-US" dirty="0"/>
              <a:t> </a:t>
            </a:r>
            <a:r>
              <a:rPr lang="en-US" dirty="0" err="1" smtClean="0"/>
              <a:t>torch.quantization.quantize_dynamic</a:t>
            </a:r>
            <a:r>
              <a:rPr lang="en-US" dirty="0" smtClean="0"/>
              <a:t>)</a:t>
            </a:r>
          </a:p>
          <a:p>
            <a:r>
              <a:rPr lang="en-IN" dirty="0" smtClean="0"/>
              <a:t>ONNX Runtime -&gt; Dynamic Quantization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543504"/>
              </p:ext>
            </p:extLst>
          </p:nvPr>
        </p:nvGraphicFramePr>
        <p:xfrm>
          <a:off x="2197893" y="3328833"/>
          <a:ext cx="6340799" cy="2417155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1674317"/>
                <a:gridCol w="1555494"/>
                <a:gridCol w="1555494"/>
                <a:gridCol w="1555494"/>
              </a:tblGrid>
              <a:tr h="124316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Quantized Model Name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Test accuracy using Pytorch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Test accuracy using ONNX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Paper’s Test Accuracy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ResNet50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97.24%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76910" algn="l"/>
                        </a:tabLs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21.19%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76910" algn="l"/>
                        </a:tabLst>
                      </a:pPr>
                      <a:r>
                        <a:rPr lang="en-US" sz="1800">
                          <a:effectLst/>
                        </a:rPr>
                        <a:t>82.78%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MobileNetV2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98.35%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97.70%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30.37%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Custom Model 2 – 5 layers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97.70%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97.85%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97.70%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alpha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 rot="10546431">
            <a:off x="8005434" y="4816699"/>
            <a:ext cx="1429555" cy="104318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5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Deployment Results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6213784"/>
              </p:ext>
            </p:extLst>
          </p:nvPr>
        </p:nvGraphicFramePr>
        <p:xfrm>
          <a:off x="2771003" y="1829707"/>
          <a:ext cx="5613143" cy="1760982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1963967"/>
                <a:gridCol w="1824588"/>
                <a:gridCol w="1824588"/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Quantized Model Name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Test accuracy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Paper’s Test Accuracy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</a:rPr>
                        <a:t>ResNet50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96.37%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76910" algn="l"/>
                        </a:tabLst>
                      </a:pPr>
                      <a:r>
                        <a:rPr lang="en-US" sz="1800">
                          <a:effectLst/>
                        </a:rPr>
                        <a:t>82.78%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MobileNetV2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97.91 %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30.37%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Custom Model 2 – 5 layers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71.40%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95.12%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25769" y="3850783"/>
            <a:ext cx="75482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Significant accuracy drop observed for Custom Model 2 on </a:t>
            </a:r>
            <a:r>
              <a:rPr lang="en-US" dirty="0" smtClean="0"/>
              <a:t>Raspberry Pi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Possible </a:t>
            </a:r>
            <a:r>
              <a:rPr lang="en-US" dirty="0"/>
              <a:t>ONNX Runtime compatibility issues on ARM </a:t>
            </a:r>
            <a:r>
              <a:rPr lang="en-US" dirty="0" smtClean="0"/>
              <a:t>architecture/</a:t>
            </a:r>
            <a:r>
              <a:rPr lang="en-US" dirty="0" err="1" smtClean="0"/>
              <a:t>Colab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ResNet50 </a:t>
            </a:r>
            <a:r>
              <a:rPr lang="en-US" dirty="0"/>
              <a:t>and MobileNetV2 maintained high </a:t>
            </a:r>
            <a:r>
              <a:rPr lang="en-US" dirty="0" smtClean="0"/>
              <a:t>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These </a:t>
            </a:r>
            <a:r>
              <a:rPr lang="en-US" dirty="0"/>
              <a:t>results exceed paper </a:t>
            </a:r>
            <a:r>
              <a:rPr lang="en-US" dirty="0" smtClean="0"/>
              <a:t>values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Differ </a:t>
            </a:r>
            <a:r>
              <a:rPr lang="en-US" dirty="0"/>
              <a:t>from </a:t>
            </a:r>
            <a:r>
              <a:rPr lang="en-US" dirty="0" err="1"/>
              <a:t>Colab</a:t>
            </a:r>
            <a:r>
              <a:rPr lang="en-US" dirty="0"/>
              <a:t> </a:t>
            </a:r>
            <a:r>
              <a:rPr lang="en-US" dirty="0" smtClean="0"/>
              <a:t>results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smtClean="0"/>
              <a:t>Differences </a:t>
            </a:r>
            <a:r>
              <a:rPr lang="en-US" dirty="0"/>
              <a:t>likely due to </a:t>
            </a:r>
            <a:r>
              <a:rPr lang="en-US" dirty="0" smtClean="0"/>
              <a:t>conversion</a:t>
            </a:r>
            <a:r>
              <a:rPr lang="en-US" dirty="0"/>
              <a:t> </a:t>
            </a:r>
            <a:r>
              <a:rPr lang="en-US" dirty="0" smtClean="0"/>
              <a:t>issues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 smtClean="0"/>
              <a:t>Dynamic Quantization might not be compatible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705341" y="1262130"/>
            <a:ext cx="437882" cy="127500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34130" y="346670"/>
            <a:ext cx="2768957" cy="9233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Compare that to the 21.19 % accuracy in </a:t>
            </a:r>
            <a:r>
              <a:rPr lang="en-IN" dirty="0" err="1" smtClean="0"/>
              <a:t>Colab</a:t>
            </a:r>
            <a:r>
              <a:rPr lang="en-IN" dirty="0" smtClean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373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Latency Results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6229946"/>
              </p:ext>
            </p:extLst>
          </p:nvPr>
        </p:nvGraphicFramePr>
        <p:xfrm>
          <a:off x="1712890" y="2429628"/>
          <a:ext cx="8596311" cy="14630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65437"/>
                <a:gridCol w="2865437"/>
                <a:gridCol w="2865437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Paper Latency (ms)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Implementation 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Custom CNN (Model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16.75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147.92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MobileNet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141.69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70.05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ResNet50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149.87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35617" y="5112913"/>
            <a:ext cx="9131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MobileNet</a:t>
            </a:r>
            <a:r>
              <a:rPr lang="en-US" dirty="0"/>
              <a:t> performed better in our implementation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 </a:t>
            </a:r>
            <a:r>
              <a:rPr lang="en-US" dirty="0" smtClean="0"/>
              <a:t>Model 2 </a:t>
            </a:r>
            <a:r>
              <a:rPr lang="en-US" dirty="0"/>
              <a:t>and </a:t>
            </a:r>
            <a:r>
              <a:rPr lang="en-US" dirty="0" smtClean="0"/>
              <a:t>ResNet50 </a:t>
            </a:r>
            <a:r>
              <a:rPr lang="en-US" dirty="0"/>
              <a:t>showed higher latency than expected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Differences likely due to ONNX Runtime </a:t>
            </a:r>
            <a:r>
              <a:rPr lang="en-US" dirty="0" smtClean="0"/>
              <a:t>optimization.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/>
              <a:t>Latency induced due to Dynamic Quantization overhead (most likely)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66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Memory Usage (on Raspberry Pi)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12890" y="5125792"/>
            <a:ext cx="91311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models show high steady-state RAM (~900MB</a:t>
            </a:r>
            <a:r>
              <a:rPr lang="en-US" dirty="0" smtClean="0"/>
              <a:t>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MobileNet</a:t>
            </a:r>
            <a:r>
              <a:rPr lang="en-US" dirty="0" smtClean="0"/>
              <a:t> </a:t>
            </a:r>
            <a:r>
              <a:rPr lang="en-US" dirty="0"/>
              <a:t>is most </a:t>
            </a:r>
            <a:r>
              <a:rPr lang="en-US" dirty="0" smtClean="0"/>
              <a:t>memory-efficient – Could be because of the model’s architecture itself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079539"/>
              </p:ext>
            </p:extLst>
          </p:nvPr>
        </p:nvGraphicFramePr>
        <p:xfrm>
          <a:off x="1283171" y="2273173"/>
          <a:ext cx="8596310" cy="2293876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1719262"/>
                <a:gridCol w="1719262"/>
                <a:gridCol w="1719262"/>
                <a:gridCol w="1719262"/>
                <a:gridCol w="1719262"/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Model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Baseline RAM (MB)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After Load RAM (MB)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Steady-State RAM (MB)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Memory Usage from Paper (GB)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Custom CNN (Model 2)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311.12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317.61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966.88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0.012 GB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MobileNetv2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311.24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323.00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930.99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0.038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ResNet50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311.23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350.22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956.75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0.203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40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784" y="2743200"/>
            <a:ext cx="8596668" cy="1320800"/>
          </a:xfrm>
        </p:spPr>
        <p:txBody>
          <a:bodyPr/>
          <a:lstStyle/>
          <a:p>
            <a:pPr algn="ctr"/>
            <a:r>
              <a:rPr lang="en-IN" dirty="0" smtClean="0"/>
              <a:t>Thank you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11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305</TotalTime>
  <Words>754</Words>
  <Application>Microsoft Office PowerPoint</Application>
  <PresentationFormat>Widescreen</PresentationFormat>
  <Paragraphs>184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MS Mincho</vt:lpstr>
      <vt:lpstr>Arial</vt:lpstr>
      <vt:lpstr>Calibri</vt:lpstr>
      <vt:lpstr>Trebuchet MS</vt:lpstr>
      <vt:lpstr>Wingdings</vt:lpstr>
      <vt:lpstr>Wingdings 3</vt:lpstr>
      <vt:lpstr>Facet</vt:lpstr>
      <vt:lpstr>TinyML Assignment 2</vt:lpstr>
      <vt:lpstr>PowerPoint Presentation</vt:lpstr>
      <vt:lpstr>PowerPoint Presentation</vt:lpstr>
      <vt:lpstr>Dataset</vt:lpstr>
      <vt:lpstr>Implementation &amp; Deployment</vt:lpstr>
      <vt:lpstr>Raspberry Pi Access</vt:lpstr>
      <vt:lpstr>Raspberry Pi Access</vt:lpstr>
      <vt:lpstr>Raspberry Pi Access</vt:lpstr>
      <vt:lpstr>Deployment + Challenges</vt:lpstr>
      <vt:lpstr>Training Results</vt:lpstr>
      <vt:lpstr>Evaluation Results</vt:lpstr>
      <vt:lpstr>Quantization Results (on Colab)</vt:lpstr>
      <vt:lpstr>Deployment Results</vt:lpstr>
      <vt:lpstr>Latency Results</vt:lpstr>
      <vt:lpstr>Memory Usage (on Raspberry Pi)</vt:lpstr>
      <vt:lpstr>Thank you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91</cp:revision>
  <dcterms:created xsi:type="dcterms:W3CDTF">2026-04-14T09:58:10Z</dcterms:created>
  <dcterms:modified xsi:type="dcterms:W3CDTF">2026-04-21T14:31:32Z</dcterms:modified>
</cp:coreProperties>
</file>